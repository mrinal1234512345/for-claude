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43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792E3-D524-454C-8AFD-A91972900BCB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E1BAA-A38D-40DE-B22C-DF9BD7D820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023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B7524-32A2-4C20-A58C-BC3BAA1042FC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697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4447-D6B2-43BB-A877-57F1A267B999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B31D2-2A87-4F4C-A9AD-05C6CC2B32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235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20E16-BD35-483C-AA6B-346FC7E46DEA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16D9-1635-4844-816A-0A8A2160FA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655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AC6F8-5103-4FC0-A69E-5C6AE6469DA8}" type="datetime1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4100A-98DE-4944-910A-A93F5CA9F7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517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C6921-0627-4C8F-83D5-0CF936D2FFDD}" type="datetime1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342B-5A73-45DC-864D-086DE78037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227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08AD7-8103-40F8-983C-E2BA6BB9CBE0}" type="datetime1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939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06B4-9380-4A4D-AF49-A3596E17DAF5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F15F3-5E77-4C57-9E21-50D6D1D6C0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231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FDEF1-C582-4E22-9E77-D68326471F28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169A-B3C7-4FB6-967F-AF95F4EB33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884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854209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21872606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301436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62717307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842982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C3A68-6922-42D3-8905-ECC2D82A3469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DD027-5576-4F27-AAB6-1D994836EE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9423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9E9F4-7604-4950-A8B2-8ACDEDB1506E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7CE61-8714-431B-A40A-01B1C5541A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526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18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-1116514" y="-823937"/>
            <a:ext cx="10443394" cy="17526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64043" y="1575776"/>
            <a:ext cx="592455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600" b="0"/>
            </a:pPr>
            <a:r>
              <a:rPr lang="en-IN" sz="2500" dirty="0"/>
              <a:t>Problem Statement ID – SIH26194</a:t>
            </a:r>
          </a:p>
          <a:p>
            <a:pPr>
              <a:defRPr sz="1600" b="0"/>
            </a:pPr>
            <a:br>
              <a:rPr lang="en-IN" sz="2500" dirty="0"/>
            </a:br>
            <a:r>
              <a:rPr lang="en-IN" sz="2500" dirty="0"/>
              <a:t>Problem Statement Title – Student Innovation – Provide ideas in decentralized and distributed ledger technology</a:t>
            </a:r>
          </a:p>
          <a:p>
            <a:pPr>
              <a:defRPr sz="1600" b="0"/>
            </a:pPr>
            <a:br>
              <a:rPr lang="en-IN" sz="2500" dirty="0"/>
            </a:br>
            <a:r>
              <a:rPr lang="en-IN" sz="2500" dirty="0"/>
              <a:t>Theme – Blockchain &amp; cybersecurity</a:t>
            </a:r>
          </a:p>
          <a:p>
            <a:pPr>
              <a:defRPr sz="1600" b="0"/>
            </a:pPr>
            <a:br>
              <a:rPr lang="en-IN" sz="2500" dirty="0"/>
            </a:br>
            <a:r>
              <a:rPr lang="en-IN" sz="2500" dirty="0"/>
              <a:t>PS Category – Software</a:t>
            </a:r>
          </a:p>
          <a:p>
            <a:pPr>
              <a:defRPr sz="1600" b="0"/>
            </a:pPr>
            <a:br>
              <a:rPr lang="en-IN" sz="2500" dirty="0"/>
            </a:br>
            <a:r>
              <a:rPr lang="en-IN" sz="2500" dirty="0"/>
              <a:t>Team Name – </a:t>
            </a:r>
            <a:r>
              <a:rPr lang="en-IN" sz="2500" dirty="0" err="1"/>
              <a:t>CryptaCore</a:t>
            </a:r>
            <a:endParaRPr lang="en-IN" sz="25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4933744-AC87-4255-AE5F-ECD05F387AE3}"/>
              </a:ext>
            </a:extLst>
          </p:cNvPr>
          <p:cNvSpPr/>
          <p:nvPr/>
        </p:nvSpPr>
        <p:spPr>
          <a:xfrm>
            <a:off x="1255703" y="1767578"/>
            <a:ext cx="98323" cy="10339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A81C6DF-B43B-4A88-82EC-8F7574496E7B}"/>
              </a:ext>
            </a:extLst>
          </p:cNvPr>
          <p:cNvSpPr/>
          <p:nvPr/>
        </p:nvSpPr>
        <p:spPr>
          <a:xfrm>
            <a:off x="1272819" y="2561446"/>
            <a:ext cx="86216" cy="8686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F922E20-B967-48DA-BD03-CEDA2037D4D6}"/>
              </a:ext>
            </a:extLst>
          </p:cNvPr>
          <p:cNvSpPr/>
          <p:nvPr/>
        </p:nvSpPr>
        <p:spPr>
          <a:xfrm>
            <a:off x="1272819" y="4478325"/>
            <a:ext cx="86216" cy="8686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E7235C1-2895-4C40-97B4-688323D9980C}"/>
              </a:ext>
            </a:extLst>
          </p:cNvPr>
          <p:cNvSpPr/>
          <p:nvPr/>
        </p:nvSpPr>
        <p:spPr>
          <a:xfrm>
            <a:off x="1275982" y="5233096"/>
            <a:ext cx="79889" cy="8686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A4623FF-2588-4D48-8F5D-E3F10794A9E3}"/>
              </a:ext>
            </a:extLst>
          </p:cNvPr>
          <p:cNvSpPr/>
          <p:nvPr/>
        </p:nvSpPr>
        <p:spPr>
          <a:xfrm>
            <a:off x="1279146" y="6004559"/>
            <a:ext cx="79889" cy="8156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869173" y="193721"/>
            <a:ext cx="10972800" cy="1143000"/>
          </a:xfrm>
        </p:spPr>
        <p:txBody>
          <a:bodyPr/>
          <a:lstStyle/>
          <a:p>
            <a:pPr eaLnBrk="1" hangingPunct="1">
              <a:defRPr sz="2400" b="1"/>
            </a:pPr>
            <a:r>
              <a:rPr dirty="0"/>
              <a:t>IDEA TITLE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08154" y="1256058"/>
            <a:ext cx="10294375" cy="3554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  <a:defRPr sz="1500" b="0"/>
            </a:pPr>
            <a:r>
              <a:rPr sz="2500" dirty="0" err="1"/>
              <a:t>CryptaCore</a:t>
            </a:r>
            <a:r>
              <a:rPr sz="2500" dirty="0"/>
              <a:t> – A Trust Layer for Real-World Digital Records</a:t>
            </a:r>
            <a:br>
              <a:rPr sz="2500" dirty="0"/>
            </a:br>
            <a:br>
              <a:rPr sz="2500" dirty="0"/>
            </a:br>
            <a:r>
              <a:rPr sz="2500" dirty="0"/>
              <a:t>• A blockchain-based platform for secure, verifiable digital records.</a:t>
            </a:r>
            <a:br>
              <a:rPr sz="2500" dirty="0"/>
            </a:br>
            <a:r>
              <a:rPr sz="2500" dirty="0"/>
              <a:t>• Converts important records into tamper-evident digital assets with ownership and history.</a:t>
            </a:r>
            <a:br>
              <a:rPr sz="2500" dirty="0"/>
            </a:br>
            <a:r>
              <a:rPr sz="2500" dirty="0"/>
              <a:t>• Uses smart contracts to automate verification, approvals and transfers.</a:t>
            </a:r>
            <a:br>
              <a:rPr sz="2500" dirty="0"/>
            </a:br>
            <a:r>
              <a:rPr sz="2500" dirty="0"/>
              <a:t>• Suitable for certificates, credentials, licenses, supply-chain records and digital ownership</a:t>
            </a:r>
            <a:r>
              <a:rPr dirty="0"/>
              <a:t>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CryptaCore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265559" y="102518"/>
            <a:ext cx="8596668" cy="1320800"/>
          </a:xfrm>
        </p:spPr>
        <p:txBody>
          <a:bodyPr/>
          <a:lstStyle/>
          <a:p>
            <a:pPr eaLnBrk="1" hangingPunct="1">
              <a:defRPr sz="2400" b="1"/>
            </a:pPr>
            <a:r>
              <a:rPr dirty="0"/>
              <a:t>TECHNICAL APPROACH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94786" y="1416876"/>
            <a:ext cx="93853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 sz="1400" b="0"/>
            </a:pPr>
            <a:r>
              <a:rPr sz="2500" dirty="0"/>
              <a:t>Technologies</a:t>
            </a:r>
            <a:br>
              <a:rPr sz="2500" dirty="0"/>
            </a:br>
            <a:r>
              <a:rPr sz="2500" dirty="0"/>
              <a:t>• Frontend: React.js / </a:t>
            </a:r>
            <a:r>
              <a:rPr sz="2500" dirty="0" err="1"/>
              <a:t>Vite</a:t>
            </a:r>
            <a:br>
              <a:rPr sz="2500" dirty="0"/>
            </a:br>
            <a:r>
              <a:rPr sz="2500" dirty="0"/>
              <a:t>• Backend: Node.js + Express</a:t>
            </a:r>
            <a:br>
              <a:rPr sz="2500" dirty="0"/>
            </a:br>
            <a:r>
              <a:rPr sz="2500" dirty="0"/>
              <a:t>• Blockchain: Ethereum-compatible network / Hyperledger-style permissioned ledger</a:t>
            </a:r>
            <a:br>
              <a:rPr sz="2500" dirty="0"/>
            </a:br>
            <a:r>
              <a:rPr sz="2500" dirty="0"/>
              <a:t>• Smart contracts: Solidity</a:t>
            </a:r>
            <a:br>
              <a:rPr sz="2500" dirty="0"/>
            </a:br>
            <a:r>
              <a:rPr sz="2500" dirty="0"/>
              <a:t>• Storage: IPFS or secure off-chain database</a:t>
            </a:r>
            <a:br>
              <a:rPr sz="2500" dirty="0"/>
            </a:br>
            <a:r>
              <a:rPr sz="2500" dirty="0"/>
              <a:t>• Security: Wallet authentication + role-based access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CryptaCore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/>
      <p:bldP spid="17410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972859" y="252246"/>
            <a:ext cx="8596668" cy="1320800"/>
          </a:xfrm>
        </p:spPr>
        <p:txBody>
          <a:bodyPr/>
          <a:lstStyle/>
          <a:p>
            <a:pPr eaLnBrk="1" hangingPunct="1">
              <a:defRPr sz="2400" b="1"/>
            </a:pPr>
            <a:r>
              <a:rPr dirty="0"/>
              <a:t>FEASIBILITY AND VIABILITY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773" y="1457511"/>
            <a:ext cx="9385300" cy="3554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/>
            </a:pPr>
            <a:r>
              <a:rPr sz="2500" dirty="0"/>
              <a:t>Feasibility</a:t>
            </a:r>
            <a:br>
              <a:rPr sz="2500" dirty="0"/>
            </a:br>
            <a:r>
              <a:rPr sz="2500" dirty="0"/>
              <a:t>• Uses mature blockchain, web and cryptography technologies.</a:t>
            </a:r>
            <a:br>
              <a:rPr sz="2500" dirty="0"/>
            </a:br>
            <a:r>
              <a:rPr sz="2500" dirty="0"/>
              <a:t>• Can start as a prototype with a small permissioned network.</a:t>
            </a:r>
            <a:br>
              <a:rPr sz="2500" dirty="0"/>
            </a:br>
            <a:r>
              <a:rPr sz="2500" dirty="0"/>
              <a:t>• Modular design allows integration with existing institutional systems.</a:t>
            </a:r>
            <a:br>
              <a:rPr sz="2500" dirty="0"/>
            </a:br>
            <a:r>
              <a:rPr sz="2500" dirty="0"/>
              <a:t>• Sensitive information can remain off-chain while only proofs are anchored on-chain</a:t>
            </a:r>
            <a:r>
              <a:rPr dirty="0"/>
              <a:t>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CryptaCore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433268" y="123822"/>
            <a:ext cx="8596668" cy="1320800"/>
          </a:xfrm>
        </p:spPr>
        <p:txBody>
          <a:bodyPr/>
          <a:lstStyle/>
          <a:p>
            <a:pPr eaLnBrk="1" hangingPunct="1">
              <a:defRPr sz="2400" b="1"/>
            </a:pPr>
            <a:r>
              <a:rPr dirty="0"/>
              <a:t>IMPACT AND BENEFITS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94786" y="1971378"/>
            <a:ext cx="9385300" cy="2400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/>
            </a:pPr>
            <a:r>
              <a:rPr sz="2500" dirty="0"/>
              <a:t>Target impact</a:t>
            </a:r>
            <a:br>
              <a:rPr sz="2500" dirty="0"/>
            </a:br>
            <a:r>
              <a:rPr sz="2500" dirty="0"/>
              <a:t>• Students &amp; citizens – instantly prove credentials and ownership.</a:t>
            </a:r>
            <a:br>
              <a:rPr sz="2500" dirty="0"/>
            </a:br>
            <a:r>
              <a:rPr sz="2500" dirty="0"/>
              <a:t>• Institutions – reduce fraud and manual verification.</a:t>
            </a:r>
            <a:br>
              <a:rPr sz="2500" dirty="0"/>
            </a:br>
            <a:r>
              <a:rPr sz="2500" dirty="0"/>
              <a:t>• Businesses – improve traceability across partners.</a:t>
            </a:r>
            <a:br>
              <a:rPr sz="2500" dirty="0"/>
            </a:br>
            <a:r>
              <a:rPr sz="2500" dirty="0"/>
              <a:t>• Government / regulators – transparent audit trails.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CryptaCore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581630" y="136522"/>
            <a:ext cx="8596668" cy="13208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61925" y="1282330"/>
            <a:ext cx="9112077" cy="5093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/>
            </a:pPr>
            <a:r>
              <a:rPr sz="2500" dirty="0"/>
              <a:t>Reference areas</a:t>
            </a:r>
            <a:br>
              <a:rPr sz="2500" dirty="0"/>
            </a:br>
            <a:r>
              <a:rPr sz="2500" dirty="0"/>
              <a:t>• Ethereum Documentation – Smart contracts &amp; decentralized applications</a:t>
            </a:r>
            <a:br>
              <a:rPr sz="2500" dirty="0"/>
            </a:br>
            <a:r>
              <a:rPr sz="2500" dirty="0"/>
              <a:t>• Hyperledger Documentation – Permissioned blockchain concepts</a:t>
            </a:r>
            <a:br>
              <a:rPr sz="2500" dirty="0"/>
            </a:br>
            <a:r>
              <a:rPr sz="2500" dirty="0"/>
              <a:t>• IPFS Documentation – Decentralized content addressing</a:t>
            </a:r>
            <a:br>
              <a:rPr sz="2500" dirty="0"/>
            </a:br>
            <a:r>
              <a:rPr sz="2500" dirty="0"/>
              <a:t>• NIST Blockchain Technology Overview – Blockchain fundamentals and security</a:t>
            </a:r>
            <a:br>
              <a:rPr sz="2500" dirty="0"/>
            </a:br>
            <a:br>
              <a:rPr sz="2500" dirty="0"/>
            </a:br>
            <a:r>
              <a:rPr sz="2500" dirty="0"/>
              <a:t>Research focus</a:t>
            </a:r>
            <a:br>
              <a:rPr sz="2500" dirty="0"/>
            </a:br>
            <a:r>
              <a:rPr sz="2500" dirty="0"/>
              <a:t>Decentralized identity • Verifiable credentials • Smart contracts • Tamper-evident records • Privacy-preserving verification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CryptaCore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7645</TotalTime>
  <Words>363</Words>
  <Application>Microsoft Office PowerPoint</Application>
  <PresentationFormat>Widescreen</PresentationFormat>
  <Paragraphs>36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</vt:lpstr>
      <vt:lpstr>Garamond</vt:lpstr>
      <vt:lpstr>Times New Roman</vt:lpstr>
      <vt:lpstr>TradeGothic</vt:lpstr>
      <vt:lpstr>Trebuchet MS</vt:lpstr>
      <vt:lpstr>Wingdings</vt:lpstr>
      <vt:lpstr>Wingdings 3</vt:lpstr>
      <vt:lpstr>Facet</vt:lpstr>
      <vt:lpstr>SMART INDIA HACKATHON 2026</vt:lpstr>
      <vt:lpstr>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USER</cp:lastModifiedBy>
  <cp:revision>152</cp:revision>
  <dcterms:created xsi:type="dcterms:W3CDTF">2013-12-12T18:46:50Z</dcterms:created>
  <dcterms:modified xsi:type="dcterms:W3CDTF">2026-09-01T06:00:14Z</dcterms:modified>
  <cp:category/>
</cp:coreProperties>
</file>